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6" r:id="rId3"/>
    <p:sldId id="257" r:id="rId4"/>
    <p:sldId id="278" r:id="rId5"/>
    <p:sldId id="277" r:id="rId6"/>
    <p:sldId id="258" r:id="rId7"/>
    <p:sldId id="259" r:id="rId8"/>
    <p:sldId id="264" r:id="rId9"/>
    <p:sldId id="265" r:id="rId10"/>
    <p:sldId id="266" r:id="rId11"/>
    <p:sldId id="271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E6BF5-3B1C-49A3-B2EB-B4A82C5D1813}" type="datetimeFigureOut">
              <a:rPr lang="es-MX" smtClean="0"/>
              <a:t>09/05/2026</a:t>
            </a:fld>
            <a:endParaRPr lang="es-MX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5FDEF-46A4-45BE-9171-EE54BF50ED9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13293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05FDEF-46A4-45BE-9171-EE54BF50ED9C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6602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72F72-A136-338E-757F-2C643F47B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D318D5-CB9C-2BBA-D73C-D37C3DAD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BE177D-160F-E86A-1A5F-5FC26025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DB68D0-AF83-91A8-12D7-FDD70F8A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10997-4007-C000-83AB-11286A8D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733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6213C-081E-9DEB-59AD-BCBB45BE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AF9664-AB1F-4514-B41E-B1AF2CDAD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ACE76E-DEEF-854D-B0ED-7F293F13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E42E67-B579-77A3-55FB-11C741AF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24FDC-B7D4-ACA4-7307-853F214C3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71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82F50-8CDB-A4A0-4CDF-F3583ECA5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0903C-487E-7819-6EEF-80E853A41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CAB74E-ABEF-2176-E889-2E96D5CC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8557E-2487-156E-8714-27610386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6A0A45-1581-4049-9A29-00DAF8CE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9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2D62A-987C-7D0C-DD99-F373F257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67F6E5-62A6-6A83-6860-274F4E18F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93703A-F478-4BD2-7124-ED854B3C6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395F69-9595-2341-E86C-E320C402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330D6E-ACCC-D5C3-F5B0-6928A6D1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AA5149-E65C-BDB5-A7D7-670A2DF5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47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A36EA-7045-466E-38D2-DB82A9DB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00929D-F9EB-180B-6F2F-90B583B0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5691EE-93DA-5E76-38C4-B12547CBE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09787C-CACC-1E0B-B83B-707F23557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443D77-1516-6CD7-ECBA-D5E051B11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278B4D-F45A-4403-8824-5EB5FE0B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65EE81-4F54-E4EC-8C20-58F18611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0834CE-35DD-D627-07F1-1814487F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61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5686B-A085-EE56-9400-D15ED96E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ECBFC5A-2C26-2E09-6244-43425991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7782CD-3EB0-A3DA-D3BC-1DDAA775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45AEB8-689D-0FDF-D800-3B6AE2A9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6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CCA4F7-D961-254C-FE97-3ABF86D2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42512F-FB49-A862-4494-98A623118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931A34-24CC-41F2-FD82-BEABC3FA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14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FCBF8-39D4-AAFC-B74C-0A26212AF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9E6D53-7122-1C87-0121-6841797F4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B28813-64FE-09D9-F6E2-CA9A20158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458C98-A214-DEE2-B8C8-3EED76F6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49DD0B-E5D4-A99A-F178-A6B7711C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633382-86EB-E244-5EBB-38B8F403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54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5E3D4-473A-0FD2-0CC6-AA2EEE6C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202B9E4-B514-0104-65BA-8E3F5ED75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731E61-73D5-6D19-7682-4FB2954B7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D057B2-76D5-2EF3-5127-5991C83E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866749-8AEE-75E6-75C8-0DDB51F0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FD0F67-505C-46D0-EFD8-205D4D41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5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62E8E-15A1-0ADB-A039-54CB72B63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0F5156-091D-4C25-5026-2372E90D3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164BDE-CFC8-724B-C182-D3931D08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307752-13AD-46E8-D9C7-3A1766FA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3A004A-CEB0-D70D-579F-DD7A2897B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5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9A128B-0C31-FFF9-A864-F5D738BAA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604796-6C5F-3B5F-3DFD-63B71685F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C60B24-99AE-E9F5-1542-7D9EAE88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0DEAC3-177B-68CE-F4FD-2AF735F3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067440-420B-70A2-9266-8870224E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387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6646CE-FE04-183C-FA9D-C8B284E3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461A49-1E12-C049-54A7-EDD91DE8E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E50EB1-49B9-41DD-C9C3-CF511C440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B448D-C037-41BC-AF25-456497C66000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9E3562-A9CB-E426-EDB6-BA6A50DA9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88A464-D0BE-6390-900B-611C02BB3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191CC-27D0-4A4C-BAB5-9F1881D65BA6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88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BA3B606-4FD2-ECB4-31E0-BBD6F48C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47" y="2314575"/>
            <a:ext cx="4371975" cy="45434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A1B0D3C-1847-098B-C597-BC1F05FED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75" y="0"/>
            <a:ext cx="5457825" cy="4943475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EAA390C-8670-598A-6D70-4FC8BEE4E0FF}"/>
              </a:ext>
            </a:extLst>
          </p:cNvPr>
          <p:cNvSpPr/>
          <p:nvPr/>
        </p:nvSpPr>
        <p:spPr>
          <a:xfrm>
            <a:off x="6590923" y="2480650"/>
            <a:ext cx="2272420" cy="23448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557D9E-49D2-EE18-5B7B-6CCE22794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0832" y="3437856"/>
            <a:ext cx="9370336" cy="676228"/>
          </a:xfrm>
        </p:spPr>
        <p:txBody>
          <a:bodyPr>
            <a:noAutofit/>
          </a:bodyPr>
          <a:lstStyle/>
          <a:p>
            <a:r>
              <a:rPr lang="es-US" sz="4400" noProof="0" dirty="0"/>
              <a:t>Sistema de Gestión de Certificaciones</a:t>
            </a:r>
          </a:p>
        </p:txBody>
      </p:sp>
      <p:pic>
        <p:nvPicPr>
          <p:cNvPr id="8" name="Picture 2" descr="Página Principal | imasmetrologia">
            <a:extLst>
              <a:ext uri="{FF2B5EF4-FFF2-40B4-BE49-F238E27FC236}">
                <a16:creationId xmlns:a16="http://schemas.microsoft.com/office/drawing/2014/main" id="{E1B2F99C-0780-6300-8864-6A7721DED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8404" y="650525"/>
            <a:ext cx="4416205" cy="294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F97CA9CB-E758-E18F-D01F-505C41A3ECA2}"/>
              </a:ext>
            </a:extLst>
          </p:cNvPr>
          <p:cNvCxnSpPr/>
          <p:nvPr/>
        </p:nvCxnSpPr>
        <p:spPr>
          <a:xfrm>
            <a:off x="1410832" y="4272851"/>
            <a:ext cx="9370337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F3458F8-DF99-1E05-DEC0-19F2CDD67503}"/>
              </a:ext>
            </a:extLst>
          </p:cNvPr>
          <p:cNvSpPr txBox="1"/>
          <p:nvPr/>
        </p:nvSpPr>
        <p:spPr>
          <a:xfrm>
            <a:off x="4511643" y="4610047"/>
            <a:ext cx="3168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2800" noProof="0" dirty="0"/>
              <a:t>Manual de usuarios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B07B409-7357-FD3D-B625-C348013DE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3870" y="5781675"/>
            <a:ext cx="305752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03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89C67C-9E26-FD39-CAA3-795DD4E78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425" y="2838450"/>
            <a:ext cx="4981575" cy="4019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A5FCED-7E34-44B7-866C-C1B544B3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475"/>
          </a:xfrm>
        </p:spPr>
        <p:txBody>
          <a:bodyPr/>
          <a:lstStyle/>
          <a:p>
            <a:r>
              <a:rPr lang="es-US" noProof="0" dirty="0"/>
              <a:t>Introducción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DEB16-A6A3-4345-871D-C6D187AF9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249"/>
            <a:ext cx="10515600" cy="45608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sz="2400" noProof="0" dirty="0"/>
              <a:t>Bienvenido al Manual de Usuario del Plataforma de Certificados para clientes de Masmetrología. </a:t>
            </a:r>
          </a:p>
          <a:p>
            <a:pPr algn="just"/>
            <a:r>
              <a:rPr lang="es-US" sz="2400" noProof="0" dirty="0"/>
              <a:t>Este sistema ha sido diseñado para ofrecer una gestión ágil, segura y centralizada de sus certificados de calibración.</a:t>
            </a:r>
          </a:p>
          <a:p>
            <a:pPr marL="0" indent="0" algn="just">
              <a:buNone/>
            </a:pPr>
            <a:r>
              <a:rPr lang="es-US" sz="2400" noProof="0" dirty="0"/>
              <a:t>Objetivo del Portal</a:t>
            </a:r>
          </a:p>
          <a:p>
            <a:pPr algn="just"/>
            <a:r>
              <a:rPr lang="es-US" sz="2400" noProof="0" dirty="0"/>
              <a:t>Consultar y visualizar certificados en tiempo real.</a:t>
            </a:r>
          </a:p>
          <a:p>
            <a:pPr algn="just"/>
            <a:r>
              <a:rPr lang="es-US" sz="2400" noProof="0" dirty="0"/>
              <a:t>Realizar descargas individuales y masivas.</a:t>
            </a:r>
          </a:p>
          <a:p>
            <a:pPr algn="just"/>
            <a:r>
              <a:rPr lang="es-US" sz="2400" noProof="0" dirty="0"/>
              <a:t>Gestionar la seguridad de su cuenta de forma autónoma.</a:t>
            </a:r>
          </a:p>
          <a:p>
            <a:pPr algn="just"/>
            <a:r>
              <a:rPr lang="es-US" sz="2400" noProof="0" dirty="0"/>
              <a:t>Acceso al Sistema: para ingresar, diríjase a la URL oficial e introduzca sus credenciales. Si es su primer acceso, asegúrese de haber completado el registro para activar sus permisos de descarga.</a:t>
            </a:r>
          </a:p>
          <a:p>
            <a:pPr algn="just"/>
            <a:endParaRPr lang="es-US" sz="2400" noProof="0" dirty="0"/>
          </a:p>
          <a:p>
            <a:pPr algn="just"/>
            <a:endParaRPr lang="es-US" noProof="0" dirty="0"/>
          </a:p>
        </p:txBody>
      </p:sp>
    </p:spTree>
    <p:extLst>
      <p:ext uri="{BB962C8B-B14F-4D97-AF65-F5344CB8AC3E}">
        <p14:creationId xmlns:p14="http://schemas.microsoft.com/office/powerpoint/2010/main" val="286147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>
            <a:extLst>
              <a:ext uri="{FF2B5EF4-FFF2-40B4-BE49-F238E27FC236}">
                <a16:creationId xmlns:a16="http://schemas.microsoft.com/office/drawing/2014/main" id="{8686F264-7C4B-AA12-219D-97401DFF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65" y="1129087"/>
            <a:ext cx="9379560" cy="38641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D40868B-D8B4-51CA-631F-AFC39F15E4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7" t="16946" b="20173"/>
          <a:stretch>
            <a:fillRect/>
          </a:stretch>
        </p:blipFill>
        <p:spPr>
          <a:xfrm flipH="1" flipV="1">
            <a:off x="0" y="5422089"/>
            <a:ext cx="3445918" cy="14359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67FD1A9-823A-2430-8504-56256514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30"/>
          </a:xfrm>
        </p:spPr>
        <p:txBody>
          <a:bodyPr>
            <a:normAutofit/>
          </a:bodyPr>
          <a:lstStyle/>
          <a:p>
            <a:pPr algn="just"/>
            <a:r>
              <a:rPr lang="es-US" sz="3600" noProof="0" dirty="0">
                <a:latin typeface="+mn-lt"/>
              </a:rPr>
              <a:t>Ingreso al portal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5C1AF5E-5CAE-6E5E-4868-63C8EF737B0D}"/>
              </a:ext>
            </a:extLst>
          </p:cNvPr>
          <p:cNvSpPr txBox="1"/>
          <p:nvPr/>
        </p:nvSpPr>
        <p:spPr>
          <a:xfrm>
            <a:off x="1365380" y="5806773"/>
            <a:ext cx="9814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sz="1600" noProof="0" dirty="0"/>
              <a:t>Ingreso al portal: Deberá de meterse a la pagina web de </a:t>
            </a:r>
            <a:r>
              <a:rPr lang="es-US" sz="1600" noProof="0" dirty="0" err="1"/>
              <a:t>Masmetrologia</a:t>
            </a:r>
            <a:r>
              <a:rPr lang="es-US" sz="1600" dirty="0"/>
              <a:t>.</a:t>
            </a:r>
            <a:r>
              <a:rPr lang="es-US" sz="1600" dirty="0" err="1"/>
              <a:t>com</a:t>
            </a:r>
            <a:r>
              <a:rPr lang="es-US" sz="1600" dirty="0"/>
              <a:t> y dentro de ella en el menú se presionará a la opción de portal al cual lo redireccionara al sistema de gestión de certificaciones.</a:t>
            </a:r>
            <a:endParaRPr lang="es-US" sz="16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1D4224-759B-485F-8F07-2786E4FB789A}"/>
              </a:ext>
            </a:extLst>
          </p:cNvPr>
          <p:cNvSpPr txBox="1"/>
          <p:nvPr/>
        </p:nvSpPr>
        <p:spPr>
          <a:xfrm>
            <a:off x="10496164" y="2952750"/>
            <a:ext cx="1605470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US" sz="1200" noProof="0" dirty="0"/>
              <a:t>Enlace al portal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BAF1EF-0C13-4665-AE47-5EF2E1F33E1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8877080" y="1846860"/>
            <a:ext cx="1619084" cy="124439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875159BF-E37A-2076-0A3F-8F5713778C4B}"/>
              </a:ext>
            </a:extLst>
          </p:cNvPr>
          <p:cNvSpPr/>
          <p:nvPr/>
        </p:nvSpPr>
        <p:spPr>
          <a:xfrm>
            <a:off x="0" y="0"/>
            <a:ext cx="12192000" cy="516784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anja diagonal 6">
            <a:extLst>
              <a:ext uri="{FF2B5EF4-FFF2-40B4-BE49-F238E27FC236}">
                <a16:creationId xmlns:a16="http://schemas.microsoft.com/office/drawing/2014/main" id="{6D830347-28B9-DFB5-6210-CF8C4D259D2C}"/>
              </a:ext>
            </a:extLst>
          </p:cNvPr>
          <p:cNvSpPr/>
          <p:nvPr/>
        </p:nvSpPr>
        <p:spPr>
          <a:xfrm flipH="1">
            <a:off x="10167044" y="0"/>
            <a:ext cx="2024956" cy="1276117"/>
          </a:xfrm>
          <a:prstGeom prst="diagStripe">
            <a:avLst/>
          </a:prstGeom>
          <a:solidFill>
            <a:srgbClr val="7CCD56"/>
          </a:solidFill>
          <a:ln>
            <a:solidFill>
              <a:srgbClr val="7CC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56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F46F4-FF72-ED1F-64B6-DE807BAF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6BEC7DC-69E9-A84F-0AF5-C5A9D3A792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" t="16946" b="20173"/>
          <a:stretch>
            <a:fillRect/>
          </a:stretch>
        </p:blipFill>
        <p:spPr>
          <a:xfrm flipH="1" flipV="1">
            <a:off x="0" y="5422089"/>
            <a:ext cx="3445918" cy="14359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B00F3B-450E-A6EE-07FD-2C0CD3CF6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30"/>
          </a:xfrm>
        </p:spPr>
        <p:txBody>
          <a:bodyPr>
            <a:normAutofit/>
          </a:bodyPr>
          <a:lstStyle/>
          <a:p>
            <a:pPr algn="just"/>
            <a:r>
              <a:rPr lang="es-US" sz="3600" noProof="0" dirty="0">
                <a:latin typeface="+mn-lt"/>
              </a:rPr>
              <a:t>Inicio de sesión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F9928D-5D2A-8116-B4B7-9A0A8DC44B8E}"/>
              </a:ext>
            </a:extLst>
          </p:cNvPr>
          <p:cNvSpPr txBox="1"/>
          <p:nvPr/>
        </p:nvSpPr>
        <p:spPr>
          <a:xfrm>
            <a:off x="1169983" y="5962886"/>
            <a:ext cx="9814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sz="1600" noProof="0" dirty="0"/>
              <a:t>Inicio de Sesión: Ingrese sus credenciales (correo electrónico y contraseña) en el formulario central. Si es su primera vez, asegúrese de haber completado el proceso de registro previo.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4AF9E3B-C72A-B5D6-2C3F-50536EBDC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9983" y="1426976"/>
            <a:ext cx="7406533" cy="4351338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BE7076-D164-B5C8-486E-0AC5DB16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532" y="1191190"/>
            <a:ext cx="3562771" cy="4633176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2F2B03-067A-33A4-7214-9DE16BA1EF9F}"/>
              </a:ext>
            </a:extLst>
          </p:cNvPr>
          <p:cNvCxnSpPr>
            <a:cxnSpLocks/>
          </p:cNvCxnSpPr>
          <p:nvPr/>
        </p:nvCxnSpPr>
        <p:spPr>
          <a:xfrm>
            <a:off x="6208776" y="2852928"/>
            <a:ext cx="11143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5943D9-1930-A5DE-0DED-4D37342EDFCD}"/>
              </a:ext>
            </a:extLst>
          </p:cNvPr>
          <p:cNvCxnSpPr>
            <a:cxnSpLocks/>
          </p:cNvCxnSpPr>
          <p:nvPr/>
        </p:nvCxnSpPr>
        <p:spPr>
          <a:xfrm>
            <a:off x="6208776" y="3407664"/>
            <a:ext cx="104241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519C473-CFC2-1ADE-E28A-3EADCA8B1E35}"/>
              </a:ext>
            </a:extLst>
          </p:cNvPr>
          <p:cNvSpPr/>
          <p:nvPr/>
        </p:nvSpPr>
        <p:spPr>
          <a:xfrm>
            <a:off x="7353469" y="3813048"/>
            <a:ext cx="2596896" cy="5180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260C0-8EE7-CD63-5EBD-39F029DE232A}"/>
              </a:ext>
            </a:extLst>
          </p:cNvPr>
          <p:cNvSpPr txBox="1"/>
          <p:nvPr/>
        </p:nvSpPr>
        <p:spPr>
          <a:xfrm>
            <a:off x="5928693" y="5452730"/>
            <a:ext cx="2072048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US" sz="1200" noProof="0" dirty="0"/>
              <a:t>Redirige al registro de usuario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90BA7D-19C9-4952-DD2A-470872788A03}"/>
              </a:ext>
            </a:extLst>
          </p:cNvPr>
          <p:cNvSpPr txBox="1"/>
          <p:nvPr/>
        </p:nvSpPr>
        <p:spPr>
          <a:xfrm>
            <a:off x="5505651" y="4848033"/>
            <a:ext cx="2354076" cy="276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US" sz="1200" noProof="0" dirty="0"/>
              <a:t>Redirige a recuperar la contraseña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49198E-620A-FCA0-4C45-3D835083945D}"/>
              </a:ext>
            </a:extLst>
          </p:cNvPr>
          <p:cNvCxnSpPr>
            <a:cxnSpLocks/>
          </p:cNvCxnSpPr>
          <p:nvPr/>
        </p:nvCxnSpPr>
        <p:spPr>
          <a:xfrm flipV="1">
            <a:off x="6993805" y="4562856"/>
            <a:ext cx="865922" cy="2851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064C9A-9BD0-7B6E-4D60-8F794931BAC4}"/>
              </a:ext>
            </a:extLst>
          </p:cNvPr>
          <p:cNvCxnSpPr>
            <a:cxnSpLocks/>
          </p:cNvCxnSpPr>
          <p:nvPr/>
        </p:nvCxnSpPr>
        <p:spPr>
          <a:xfrm flipV="1">
            <a:off x="7785995" y="5005469"/>
            <a:ext cx="790521" cy="41633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376A6961-927E-BDE9-51FD-D6D7C946ADB8}"/>
              </a:ext>
            </a:extLst>
          </p:cNvPr>
          <p:cNvSpPr/>
          <p:nvPr/>
        </p:nvSpPr>
        <p:spPr>
          <a:xfrm>
            <a:off x="0" y="0"/>
            <a:ext cx="12192000" cy="516784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anja diagonal 6">
            <a:extLst>
              <a:ext uri="{FF2B5EF4-FFF2-40B4-BE49-F238E27FC236}">
                <a16:creationId xmlns:a16="http://schemas.microsoft.com/office/drawing/2014/main" id="{4EC30A5B-0CFA-6EB1-3574-4F9FC3652611}"/>
              </a:ext>
            </a:extLst>
          </p:cNvPr>
          <p:cNvSpPr/>
          <p:nvPr/>
        </p:nvSpPr>
        <p:spPr>
          <a:xfrm flipH="1">
            <a:off x="10167044" y="0"/>
            <a:ext cx="2024956" cy="1276117"/>
          </a:xfrm>
          <a:prstGeom prst="diagStripe">
            <a:avLst/>
          </a:prstGeom>
          <a:solidFill>
            <a:srgbClr val="7CCD56"/>
          </a:solidFill>
          <a:ln>
            <a:solidFill>
              <a:srgbClr val="7CC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21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C2C72-0D77-9BEF-CBE0-F649B6C0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E1B8681-C196-8925-4155-A803F14B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320113" y="424192"/>
            <a:ext cx="3293302" cy="24504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29CE055-3611-E557-A19C-13863F482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7" t="16946" b="20173"/>
          <a:stretch>
            <a:fillRect/>
          </a:stretch>
        </p:blipFill>
        <p:spPr>
          <a:xfrm flipH="1" flipV="1">
            <a:off x="0" y="5422089"/>
            <a:ext cx="3445918" cy="14359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9BF9F91-FEB5-7C60-BC03-3887406BB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30"/>
          </a:xfrm>
        </p:spPr>
        <p:txBody>
          <a:bodyPr>
            <a:normAutofit/>
          </a:bodyPr>
          <a:lstStyle/>
          <a:p>
            <a:pPr algn="just"/>
            <a:r>
              <a:rPr lang="es-US" sz="3600" noProof="0" dirty="0">
                <a:latin typeface="+mn-lt"/>
              </a:rPr>
              <a:t>Inicio de sesión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AF799B-F1EB-85A8-3BE2-50709153BAEA}"/>
              </a:ext>
            </a:extLst>
          </p:cNvPr>
          <p:cNvSpPr txBox="1"/>
          <p:nvPr/>
        </p:nvSpPr>
        <p:spPr>
          <a:xfrm>
            <a:off x="1169983" y="5962886"/>
            <a:ext cx="9814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sz="1600" noProof="0" dirty="0"/>
              <a:t>Ingresa a su correo para seguir con su registro. Ingrese al link para verificar su cuenta, redirigirá al usuario al </a:t>
            </a:r>
            <a:r>
              <a:rPr lang="es-US" sz="1600" noProof="0" dirty="0" err="1"/>
              <a:t>login</a:t>
            </a:r>
            <a:r>
              <a:rPr lang="es-US" sz="1600" dirty="0"/>
              <a:t> (ingrese su correo y contraseña anteriormente registrado).</a:t>
            </a:r>
            <a:r>
              <a:rPr lang="es-US" sz="1600" noProof="0" dirty="0"/>
              <a:t>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0F5AF6-35FB-80B9-C738-B12AF2A562DF}"/>
              </a:ext>
            </a:extLst>
          </p:cNvPr>
          <p:cNvCxnSpPr>
            <a:cxnSpLocks/>
          </p:cNvCxnSpPr>
          <p:nvPr/>
        </p:nvCxnSpPr>
        <p:spPr>
          <a:xfrm>
            <a:off x="6208776" y="2852928"/>
            <a:ext cx="11143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9D2934-F364-DEFC-FFC6-5A704DF89698}"/>
              </a:ext>
            </a:extLst>
          </p:cNvPr>
          <p:cNvCxnSpPr>
            <a:cxnSpLocks/>
          </p:cNvCxnSpPr>
          <p:nvPr/>
        </p:nvCxnSpPr>
        <p:spPr>
          <a:xfrm>
            <a:off x="6208776" y="3407664"/>
            <a:ext cx="104241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242F9B9D-71CF-7EE4-A4BF-9CCEF91289D9}"/>
              </a:ext>
            </a:extLst>
          </p:cNvPr>
          <p:cNvSpPr/>
          <p:nvPr/>
        </p:nvSpPr>
        <p:spPr>
          <a:xfrm>
            <a:off x="0" y="0"/>
            <a:ext cx="12192000" cy="516784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6E9ACC55-FF70-6AD5-736C-815F89040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826763" y="1120410"/>
            <a:ext cx="8538474" cy="4351338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ED642436-687F-7976-D842-795F65AAC5FC}"/>
              </a:ext>
            </a:extLst>
          </p:cNvPr>
          <p:cNvSpPr/>
          <p:nvPr/>
        </p:nvSpPr>
        <p:spPr>
          <a:xfrm>
            <a:off x="3806726" y="4812233"/>
            <a:ext cx="2596896" cy="5180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</p:spTree>
    <p:extLst>
      <p:ext uri="{BB962C8B-B14F-4D97-AF65-F5344CB8AC3E}">
        <p14:creationId xmlns:p14="http://schemas.microsoft.com/office/powerpoint/2010/main" val="197114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4ECE6E-95E6-53B9-A8F0-B80C8E61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192"/>
            <a:ext cx="10515600" cy="798707"/>
          </a:xfrm>
        </p:spPr>
        <p:txBody>
          <a:bodyPr>
            <a:normAutofit/>
          </a:bodyPr>
          <a:lstStyle/>
          <a:p>
            <a:pPr algn="just"/>
            <a:r>
              <a:rPr lang="es-US" sz="3600" noProof="0" dirty="0">
                <a:latin typeface="+mn-lt"/>
              </a:rPr>
              <a:t>Registro de usuario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D994920-3061-6D4C-D3D6-A8D92F580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20" y="1255098"/>
            <a:ext cx="6753079" cy="36579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A284C7-6B3E-451E-8FFC-2622A453E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450" y="442001"/>
            <a:ext cx="3892750" cy="5048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5FFBBF-467D-476F-9670-6DA0FEB52D26}"/>
              </a:ext>
            </a:extLst>
          </p:cNvPr>
          <p:cNvSpPr txBox="1"/>
          <p:nvPr/>
        </p:nvSpPr>
        <p:spPr>
          <a:xfrm>
            <a:off x="676656" y="5602902"/>
            <a:ext cx="108386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600" noProof="0" dirty="0">
                <a:latin typeface="+mn-lt"/>
              </a:rPr>
              <a:t>El usuario debe completar el formulario con su nombre completo, correo corporativo (mismo correo proporcionado a nuestros agentes de ventas), puesto y una contraseña segura, al dar clic a “Crear cuenta” se enviara un correo para seguir con el registro. Para completar el registro deberá ingresar al correo enviado e ingresar al link, ingresar sus credenciales (correo y contraseña anteriormente registrada) para completar el registro.</a:t>
            </a:r>
            <a:endParaRPr lang="es-US" sz="1600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3F6A99-B339-4AEC-92E3-89E228E6F2B9}"/>
              </a:ext>
            </a:extLst>
          </p:cNvPr>
          <p:cNvCxnSpPr>
            <a:cxnSpLocks/>
          </p:cNvCxnSpPr>
          <p:nvPr/>
        </p:nvCxnSpPr>
        <p:spPr>
          <a:xfrm>
            <a:off x="5980176" y="2203704"/>
            <a:ext cx="11143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935161-8D74-4062-BCC2-7E826CD9F61A}"/>
              </a:ext>
            </a:extLst>
          </p:cNvPr>
          <p:cNvCxnSpPr>
            <a:cxnSpLocks/>
          </p:cNvCxnSpPr>
          <p:nvPr/>
        </p:nvCxnSpPr>
        <p:spPr>
          <a:xfrm>
            <a:off x="5980176" y="2788920"/>
            <a:ext cx="11143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EACBF2-7089-4070-9794-8266B23CB269}"/>
              </a:ext>
            </a:extLst>
          </p:cNvPr>
          <p:cNvCxnSpPr>
            <a:cxnSpLocks/>
          </p:cNvCxnSpPr>
          <p:nvPr/>
        </p:nvCxnSpPr>
        <p:spPr>
          <a:xfrm>
            <a:off x="5946194" y="3429000"/>
            <a:ext cx="11143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497624-2B16-43B6-A7F5-ABE390FBFF31}"/>
              </a:ext>
            </a:extLst>
          </p:cNvPr>
          <p:cNvCxnSpPr>
            <a:cxnSpLocks/>
          </p:cNvCxnSpPr>
          <p:nvPr/>
        </p:nvCxnSpPr>
        <p:spPr>
          <a:xfrm>
            <a:off x="5946194" y="3986784"/>
            <a:ext cx="111438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1316196-103D-4D1E-A475-9A53CA2D6851}"/>
              </a:ext>
            </a:extLst>
          </p:cNvPr>
          <p:cNvSpPr/>
          <p:nvPr/>
        </p:nvSpPr>
        <p:spPr>
          <a:xfrm>
            <a:off x="7094560" y="4261104"/>
            <a:ext cx="3411895" cy="4663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F9CD0F-B9BA-4C0E-A533-A83B6B09FA13}"/>
              </a:ext>
            </a:extLst>
          </p:cNvPr>
          <p:cNvCxnSpPr>
            <a:cxnSpLocks/>
          </p:cNvCxnSpPr>
          <p:nvPr/>
        </p:nvCxnSpPr>
        <p:spPr>
          <a:xfrm flipV="1">
            <a:off x="6096000" y="4877139"/>
            <a:ext cx="1959864" cy="13377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46703CA4-CE0D-62A6-ED89-E4EA0D0C793F}"/>
              </a:ext>
            </a:extLst>
          </p:cNvPr>
          <p:cNvSpPr/>
          <p:nvPr/>
        </p:nvSpPr>
        <p:spPr>
          <a:xfrm>
            <a:off x="0" y="0"/>
            <a:ext cx="12192000" cy="516784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BBF057-490A-42C6-859D-28414E61FE59}"/>
              </a:ext>
            </a:extLst>
          </p:cNvPr>
          <p:cNvSpPr txBox="1"/>
          <p:nvPr/>
        </p:nvSpPr>
        <p:spPr>
          <a:xfrm>
            <a:off x="3261360" y="4836291"/>
            <a:ext cx="28346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US" noProof="0" dirty="0"/>
              <a:t>Redirige al inicio de sesión </a:t>
            </a:r>
          </a:p>
        </p:txBody>
      </p:sp>
      <p:sp>
        <p:nvSpPr>
          <p:cNvPr id="3" name="Franja diagonal 2">
            <a:extLst>
              <a:ext uri="{FF2B5EF4-FFF2-40B4-BE49-F238E27FC236}">
                <a16:creationId xmlns:a16="http://schemas.microsoft.com/office/drawing/2014/main" id="{3FFF0BA1-A051-C2B8-BEC0-C3E78F7D5BFF}"/>
              </a:ext>
            </a:extLst>
          </p:cNvPr>
          <p:cNvSpPr/>
          <p:nvPr/>
        </p:nvSpPr>
        <p:spPr>
          <a:xfrm flipH="1">
            <a:off x="10167044" y="0"/>
            <a:ext cx="2024956" cy="1276117"/>
          </a:xfrm>
          <a:prstGeom prst="diagStripe">
            <a:avLst/>
          </a:prstGeom>
          <a:solidFill>
            <a:srgbClr val="7CCD56"/>
          </a:solidFill>
          <a:ln>
            <a:solidFill>
              <a:srgbClr val="7CC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nja diagonal 6">
            <a:extLst>
              <a:ext uri="{FF2B5EF4-FFF2-40B4-BE49-F238E27FC236}">
                <a16:creationId xmlns:a16="http://schemas.microsoft.com/office/drawing/2014/main" id="{AA469F4F-3A19-4468-F6F5-6C6522F521BA}"/>
              </a:ext>
            </a:extLst>
          </p:cNvPr>
          <p:cNvSpPr/>
          <p:nvPr/>
        </p:nvSpPr>
        <p:spPr>
          <a:xfrm>
            <a:off x="0" y="0"/>
            <a:ext cx="912628" cy="686869"/>
          </a:xfrm>
          <a:prstGeom prst="diagStripe">
            <a:avLst/>
          </a:prstGeom>
          <a:solidFill>
            <a:srgbClr val="7CCD56"/>
          </a:solidFill>
          <a:ln>
            <a:solidFill>
              <a:srgbClr val="7CC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nja diagonal 13">
            <a:extLst>
              <a:ext uri="{FF2B5EF4-FFF2-40B4-BE49-F238E27FC236}">
                <a16:creationId xmlns:a16="http://schemas.microsoft.com/office/drawing/2014/main" id="{43F9B1E9-A359-639F-068C-4E49C1C201F4}"/>
              </a:ext>
            </a:extLst>
          </p:cNvPr>
          <p:cNvSpPr/>
          <p:nvPr/>
        </p:nvSpPr>
        <p:spPr>
          <a:xfrm>
            <a:off x="0" y="471865"/>
            <a:ext cx="912628" cy="686869"/>
          </a:xfrm>
          <a:prstGeom prst="diagStripe">
            <a:avLst/>
          </a:prstGeom>
          <a:solidFill>
            <a:srgbClr val="7CCD56"/>
          </a:solidFill>
          <a:ln>
            <a:solidFill>
              <a:srgbClr val="7CC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anja diagonal 14">
            <a:extLst>
              <a:ext uri="{FF2B5EF4-FFF2-40B4-BE49-F238E27FC236}">
                <a16:creationId xmlns:a16="http://schemas.microsoft.com/office/drawing/2014/main" id="{5F342820-24C6-ACCB-011A-6D5AE904254D}"/>
              </a:ext>
            </a:extLst>
          </p:cNvPr>
          <p:cNvSpPr/>
          <p:nvPr/>
        </p:nvSpPr>
        <p:spPr>
          <a:xfrm flipH="1" flipV="1">
            <a:off x="11104830" y="6043068"/>
            <a:ext cx="1087170" cy="814932"/>
          </a:xfrm>
          <a:prstGeom prst="diagStripe">
            <a:avLst/>
          </a:prstGeom>
          <a:solidFill>
            <a:srgbClr val="7CCD56"/>
          </a:solidFill>
          <a:ln>
            <a:solidFill>
              <a:srgbClr val="7CC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94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6EC585-7881-C13B-DC92-5E6F6C822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2400" cy="27250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7CC99E-498D-415B-4A21-A5CC25C8C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298" y="390555"/>
            <a:ext cx="8514332" cy="805307"/>
          </a:xfrm>
        </p:spPr>
        <p:txBody>
          <a:bodyPr>
            <a:normAutofit/>
          </a:bodyPr>
          <a:lstStyle/>
          <a:p>
            <a:r>
              <a:rPr lang="es-US" sz="3600" noProof="0" dirty="0">
                <a:latin typeface="+mn-lt"/>
              </a:rPr>
              <a:t>Recuperación de Contraseña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8F782B8-3487-E0CD-3DF4-9285C682F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3812" y="1253331"/>
            <a:ext cx="8033239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DD114F-61B6-4684-8CE0-2091B33584CD}"/>
              </a:ext>
            </a:extLst>
          </p:cNvPr>
          <p:cNvSpPr txBox="1"/>
          <p:nvPr/>
        </p:nvSpPr>
        <p:spPr>
          <a:xfrm>
            <a:off x="1243584" y="5908100"/>
            <a:ext cx="9226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sz="1600" noProof="0" dirty="0">
                <a:latin typeface="+mn-lt"/>
              </a:rPr>
              <a:t>En caso de olvido, haga clic en “¿Olvidaste tu contraseña?”. El sistema enviará un enlace de restablecimiento al correo asociado. Nota: El enlace tiene una vigencia de 24 horas.</a:t>
            </a:r>
            <a:endParaRPr lang="es-US" sz="16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8C1606-FC30-43E9-ADAC-ED26E11E4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344" y="882045"/>
            <a:ext cx="4083767" cy="491034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C38BAD-BACE-4675-92A8-762F1A203FA6}"/>
              </a:ext>
            </a:extLst>
          </p:cNvPr>
          <p:cNvCxnSpPr>
            <a:cxnSpLocks/>
          </p:cNvCxnSpPr>
          <p:nvPr/>
        </p:nvCxnSpPr>
        <p:spPr>
          <a:xfrm>
            <a:off x="6190488" y="3593592"/>
            <a:ext cx="136127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99986-60B7-40E6-8C98-15FCFB7FD521}"/>
              </a:ext>
            </a:extLst>
          </p:cNvPr>
          <p:cNvSpPr/>
          <p:nvPr/>
        </p:nvSpPr>
        <p:spPr>
          <a:xfrm>
            <a:off x="5998464" y="2962658"/>
            <a:ext cx="1719072" cy="5480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US" sz="1600" noProof="0" dirty="0"/>
              <a:t>Ingrese su correo corporativo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494BA35-594D-47E6-A95C-E0DFC8F90221}"/>
              </a:ext>
            </a:extLst>
          </p:cNvPr>
          <p:cNvSpPr/>
          <p:nvPr/>
        </p:nvSpPr>
        <p:spPr>
          <a:xfrm>
            <a:off x="7560259" y="4027612"/>
            <a:ext cx="3411895" cy="4663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A81855-6FD8-238B-C704-662869609D13}"/>
              </a:ext>
            </a:extLst>
          </p:cNvPr>
          <p:cNvSpPr/>
          <p:nvPr/>
        </p:nvSpPr>
        <p:spPr>
          <a:xfrm>
            <a:off x="0" y="-44846"/>
            <a:ext cx="12192000" cy="516784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75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8B5962E7-E81C-1656-50D0-318D66F24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325" y="-44846"/>
            <a:ext cx="4257675" cy="279762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E50431-2C5E-6C5E-5A9F-C5984CA4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984" y="516784"/>
            <a:ext cx="7183170" cy="570540"/>
          </a:xfrm>
        </p:spPr>
        <p:txBody>
          <a:bodyPr>
            <a:normAutofit fontScale="90000"/>
          </a:bodyPr>
          <a:lstStyle/>
          <a:p>
            <a:r>
              <a:rPr lang="es-US" sz="3600" noProof="0" dirty="0">
                <a:latin typeface="+mn-lt"/>
              </a:rPr>
              <a:t>Recuperación de Contraseña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1E37B64-EDC8-46F2-A673-7459DC8C9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2628" y="1476375"/>
            <a:ext cx="4648200" cy="3905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B0EA9A-F23F-43C3-816A-5927A5E6C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181" y="1476375"/>
            <a:ext cx="3825949" cy="3899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FAA0A-3174-468B-AED3-64492CBD477A}"/>
              </a:ext>
            </a:extLst>
          </p:cNvPr>
          <p:cNvSpPr txBox="1"/>
          <p:nvPr/>
        </p:nvSpPr>
        <p:spPr>
          <a:xfrm>
            <a:off x="5699051" y="5467533"/>
            <a:ext cx="61278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sz="1800" noProof="0" dirty="0">
                <a:latin typeface="+mn-lt"/>
              </a:rPr>
              <a:t>Ingrese la contraseña nueva (con mínimo de 8 caracteres, un signo, un numero y una mayúscula), darle clic </a:t>
            </a:r>
            <a:r>
              <a:rPr lang="es-US" noProof="0" dirty="0"/>
              <a:t>“Actualizar contraseña” se registrara la nueva contraseña y se redirigirá a la pagina de inicio de sesión</a:t>
            </a:r>
            <a:r>
              <a:rPr lang="es-US" sz="1800" noProof="0" dirty="0">
                <a:latin typeface="+mn-lt"/>
              </a:rPr>
              <a:t>.</a:t>
            </a:r>
            <a:endParaRPr lang="es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5A6C713-A1FC-4D93-BB29-8C2F2CE57B22}"/>
              </a:ext>
            </a:extLst>
          </p:cNvPr>
          <p:cNvCxnSpPr>
            <a:cxnSpLocks/>
          </p:cNvCxnSpPr>
          <p:nvPr/>
        </p:nvCxnSpPr>
        <p:spPr>
          <a:xfrm flipV="1">
            <a:off x="1967023" y="4242391"/>
            <a:ext cx="0" cy="122514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29A2938-0E07-4ABD-9747-7A5130121CFD}"/>
              </a:ext>
            </a:extLst>
          </p:cNvPr>
          <p:cNvSpPr txBox="1"/>
          <p:nvPr/>
        </p:nvSpPr>
        <p:spPr>
          <a:xfrm>
            <a:off x="912628" y="5052863"/>
            <a:ext cx="461098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US" sz="1800" noProof="0" dirty="0">
                <a:latin typeface="+mn-lt"/>
              </a:rPr>
              <a:t>Ingrese al link del correo para redireccionarlo a la pagina de ingresar la nueva contraseña.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9FAB26-C501-4212-B3F8-14AA1B79CC9D}"/>
              </a:ext>
            </a:extLst>
          </p:cNvPr>
          <p:cNvCxnSpPr/>
          <p:nvPr/>
        </p:nvCxnSpPr>
        <p:spPr>
          <a:xfrm>
            <a:off x="6390167" y="3710763"/>
            <a:ext cx="110578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65F7DB5-F626-4175-A67C-09560DEDB339}"/>
              </a:ext>
            </a:extLst>
          </p:cNvPr>
          <p:cNvSpPr/>
          <p:nvPr/>
        </p:nvSpPr>
        <p:spPr>
          <a:xfrm>
            <a:off x="7320207" y="4077052"/>
            <a:ext cx="3411895" cy="4663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F503D6A-E257-4795-6029-C1C3967C771D}"/>
              </a:ext>
            </a:extLst>
          </p:cNvPr>
          <p:cNvSpPr/>
          <p:nvPr/>
        </p:nvSpPr>
        <p:spPr>
          <a:xfrm>
            <a:off x="0" y="-44846"/>
            <a:ext cx="12192000" cy="516784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EB2CCA46-A5E6-0D75-F397-60B22AE9CE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7" t="16946" b="20173"/>
          <a:stretch>
            <a:fillRect/>
          </a:stretch>
        </p:blipFill>
        <p:spPr>
          <a:xfrm flipH="1" flipV="1">
            <a:off x="0" y="5422089"/>
            <a:ext cx="3445918" cy="14359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3630F2-DC61-9993-CAC8-DF2079D5E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028"/>
          </a:xfrm>
        </p:spPr>
        <p:txBody>
          <a:bodyPr>
            <a:normAutofit/>
          </a:bodyPr>
          <a:lstStyle/>
          <a:p>
            <a:r>
              <a:rPr lang="es-US" sz="3600" noProof="0" dirty="0">
                <a:latin typeface="+mn-lt"/>
              </a:rPr>
              <a:t>Pagina de inicio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16AFC4E-E1BC-B393-1853-6DA2DE4D6C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2402" y="1012248"/>
            <a:ext cx="8547197" cy="4629732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37A10ECC-C45C-CB2B-F32F-99E249B7A94A}"/>
              </a:ext>
            </a:extLst>
          </p:cNvPr>
          <p:cNvSpPr/>
          <p:nvPr/>
        </p:nvSpPr>
        <p:spPr>
          <a:xfrm>
            <a:off x="9644932" y="1351721"/>
            <a:ext cx="724666" cy="33395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19C1C-F671-4508-9585-41F5CB59BA22}"/>
              </a:ext>
            </a:extLst>
          </p:cNvPr>
          <p:cNvSpPr txBox="1"/>
          <p:nvPr/>
        </p:nvSpPr>
        <p:spPr>
          <a:xfrm>
            <a:off x="997688" y="5760035"/>
            <a:ext cx="10196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US" sz="1800" noProof="0" dirty="0">
                <a:latin typeface="+mn-lt"/>
              </a:rPr>
              <a:t>La pagina de inicio muestra la información importante para el usuarios, duración de los certificados en la plataforma, seguridad sobre las contraseñas, soporte y el total de certificados por empresa. El icono de usuario se puede cerrar la sesión del usuario.</a:t>
            </a:r>
            <a:endParaRPr lang="es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53F91F-FCC2-45E7-8C0E-35478120002B}"/>
              </a:ext>
            </a:extLst>
          </p:cNvPr>
          <p:cNvSpPr/>
          <p:nvPr/>
        </p:nvSpPr>
        <p:spPr>
          <a:xfrm>
            <a:off x="8159750" y="4826000"/>
            <a:ext cx="603250" cy="1778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noProof="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63DAD8-0EFA-4C86-A08E-B248A1729168}"/>
              </a:ext>
            </a:extLst>
          </p:cNvPr>
          <p:cNvSpPr/>
          <p:nvPr/>
        </p:nvSpPr>
        <p:spPr>
          <a:xfrm>
            <a:off x="1912716" y="1894765"/>
            <a:ext cx="796714" cy="103681"/>
          </a:xfrm>
          <a:prstGeom prst="rect">
            <a:avLst/>
          </a:prstGeom>
          <a:solidFill>
            <a:srgbClr val="172949"/>
          </a:solidFill>
          <a:ln>
            <a:solidFill>
              <a:srgbClr val="172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600" noProof="0" dirty="0"/>
              <a:t>Masmetrología</a:t>
            </a:r>
            <a:endParaRPr lang="es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53E449-3740-4062-9BB9-47FCBD99B8F5}"/>
              </a:ext>
            </a:extLst>
          </p:cNvPr>
          <p:cNvSpPr/>
          <p:nvPr/>
        </p:nvSpPr>
        <p:spPr>
          <a:xfrm>
            <a:off x="2295099" y="1803780"/>
            <a:ext cx="414331" cy="90985"/>
          </a:xfrm>
          <a:prstGeom prst="rect">
            <a:avLst/>
          </a:prstGeom>
          <a:solidFill>
            <a:srgbClr val="172949"/>
          </a:solidFill>
          <a:ln>
            <a:solidFill>
              <a:srgbClr val="172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DEDB1C-D40E-4395-9A23-F01FEF0256AF}"/>
              </a:ext>
            </a:extLst>
          </p:cNvPr>
          <p:cNvCxnSpPr>
            <a:cxnSpLocks/>
          </p:cNvCxnSpPr>
          <p:nvPr/>
        </p:nvCxnSpPr>
        <p:spPr>
          <a:xfrm>
            <a:off x="1012556" y="2530716"/>
            <a:ext cx="809846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4A2D19-4F3B-41D3-A85E-45E60EFB218F}"/>
              </a:ext>
            </a:extLst>
          </p:cNvPr>
          <p:cNvSpPr txBox="1"/>
          <p:nvPr/>
        </p:nvSpPr>
        <p:spPr>
          <a:xfrm>
            <a:off x="406396" y="2299883"/>
            <a:ext cx="9239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US" sz="1200" noProof="0" dirty="0"/>
              <a:t>Menú de navegación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B797955-742F-4105-8859-9D3B942A04B9}"/>
              </a:ext>
            </a:extLst>
          </p:cNvPr>
          <p:cNvCxnSpPr>
            <a:cxnSpLocks/>
          </p:cNvCxnSpPr>
          <p:nvPr/>
        </p:nvCxnSpPr>
        <p:spPr>
          <a:xfrm rot="16200000" flipV="1">
            <a:off x="9910579" y="1780338"/>
            <a:ext cx="347874" cy="154502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79608B1-8E02-4CC1-82D4-98EA9E27B121}"/>
              </a:ext>
            </a:extLst>
          </p:cNvPr>
          <p:cNvSpPr/>
          <p:nvPr/>
        </p:nvSpPr>
        <p:spPr>
          <a:xfrm>
            <a:off x="10003982" y="1998446"/>
            <a:ext cx="1534512" cy="7300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1200" noProof="0" dirty="0">
                <a:solidFill>
                  <a:schemeClr val="tx1"/>
                </a:solidFill>
              </a:rPr>
              <a:t>Nombre del usuario que esta sesión e icono para cerrar la sesión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917D57-9DBF-266F-DD24-20E997332653}"/>
              </a:ext>
            </a:extLst>
          </p:cNvPr>
          <p:cNvSpPr/>
          <p:nvPr/>
        </p:nvSpPr>
        <p:spPr>
          <a:xfrm>
            <a:off x="0" y="0"/>
            <a:ext cx="12192000" cy="516784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16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C59B14A-918E-BF77-E852-B4048BA7E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2400" cy="27250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A26B573-29D3-6EF2-011F-EEF32B7D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4143"/>
            <a:ext cx="10515600" cy="506745"/>
          </a:xfrm>
        </p:spPr>
        <p:txBody>
          <a:bodyPr>
            <a:normAutofit fontScale="90000"/>
          </a:bodyPr>
          <a:lstStyle/>
          <a:p>
            <a:r>
              <a:rPr lang="es-US" sz="3600" noProof="0" dirty="0">
                <a:latin typeface="+mn-lt"/>
              </a:rPr>
              <a:t>Gestión de certificados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264F572D-F472-15D2-59E8-489CBC509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0775" y="1025645"/>
            <a:ext cx="8033239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ED3006-384E-47AA-BD55-034D2403900B}"/>
              </a:ext>
            </a:extLst>
          </p:cNvPr>
          <p:cNvSpPr txBox="1"/>
          <p:nvPr/>
        </p:nvSpPr>
        <p:spPr>
          <a:xfrm>
            <a:off x="838200" y="5478741"/>
            <a:ext cx="101897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noProof="0" dirty="0">
                <a:latin typeface="+mn-lt"/>
              </a:rPr>
              <a:t>Diríjase al apartado de Certificados.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noProof="0" dirty="0">
                <a:latin typeface="+mn-lt"/>
              </a:rPr>
              <a:t>Utilice los filtros (id, fecha de calibración, descripción, fabricante, modelo, número de serie o pdf) para localizar el documento.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noProof="0" dirty="0">
                <a:latin typeface="+mn-lt"/>
              </a:rPr>
              <a:t>Haga clic en el botón de 'Ojo' para previsualizar el PDF sin descargar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noProof="0" dirty="0"/>
              <a:t>Haga clic en el botón de descarga para bajar el archivo.</a:t>
            </a:r>
            <a:endParaRPr lang="es-US" sz="1600" noProof="0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8E5751-95F2-4CBF-BBA3-01D4FC4DEBE7}"/>
              </a:ext>
            </a:extLst>
          </p:cNvPr>
          <p:cNvSpPr/>
          <p:nvPr/>
        </p:nvSpPr>
        <p:spPr>
          <a:xfrm>
            <a:off x="2439783" y="1757482"/>
            <a:ext cx="414331" cy="90985"/>
          </a:xfrm>
          <a:prstGeom prst="rect">
            <a:avLst/>
          </a:prstGeom>
          <a:solidFill>
            <a:srgbClr val="172949"/>
          </a:solidFill>
          <a:ln>
            <a:solidFill>
              <a:srgbClr val="172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516666-4731-4964-9F91-9C57DB029BBF}"/>
              </a:ext>
            </a:extLst>
          </p:cNvPr>
          <p:cNvSpPr/>
          <p:nvPr/>
        </p:nvSpPr>
        <p:spPr>
          <a:xfrm>
            <a:off x="2091763" y="1851448"/>
            <a:ext cx="762351" cy="90985"/>
          </a:xfrm>
          <a:prstGeom prst="rect">
            <a:avLst/>
          </a:prstGeom>
          <a:solidFill>
            <a:srgbClr val="172949"/>
          </a:solidFill>
          <a:ln>
            <a:solidFill>
              <a:srgbClr val="172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600" noProof="0" dirty="0"/>
              <a:t>Masmetrología</a:t>
            </a:r>
            <a:endParaRPr lang="es-US" sz="1600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19F78B-CE53-43F5-A5A9-F1426098DF72}"/>
              </a:ext>
            </a:extLst>
          </p:cNvPr>
          <p:cNvSpPr/>
          <p:nvPr/>
        </p:nvSpPr>
        <p:spPr>
          <a:xfrm>
            <a:off x="9116568" y="2313432"/>
            <a:ext cx="548640" cy="24688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A76E5F-F895-4AA7-BB8D-1CB4900005F0}"/>
              </a:ext>
            </a:extLst>
          </p:cNvPr>
          <p:cNvSpPr/>
          <p:nvPr/>
        </p:nvSpPr>
        <p:spPr>
          <a:xfrm>
            <a:off x="6452616" y="1481017"/>
            <a:ext cx="548640" cy="24688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06273F-BF29-455B-9CC0-39822959ABAC}"/>
              </a:ext>
            </a:extLst>
          </p:cNvPr>
          <p:cNvSpPr txBox="1"/>
          <p:nvPr/>
        </p:nvSpPr>
        <p:spPr>
          <a:xfrm>
            <a:off x="9253728" y="3200118"/>
            <a:ext cx="266700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US" sz="1200" noProof="0" dirty="0"/>
              <a:t>Botón</a:t>
            </a:r>
            <a:r>
              <a:rPr lang="es-US" sz="1200" noProof="0" dirty="0">
                <a:latin typeface="+mn-lt"/>
              </a:rPr>
              <a:t> de Ojo: Permite la visualización rápida del PDF.</a:t>
            </a:r>
            <a:br>
              <a:rPr lang="es-US" sz="1200" noProof="0" dirty="0">
                <a:latin typeface="+mn-lt"/>
              </a:rPr>
            </a:br>
            <a:r>
              <a:rPr lang="es-US" sz="1200" noProof="0" dirty="0"/>
              <a:t>Botón</a:t>
            </a:r>
            <a:r>
              <a:rPr lang="es-US" sz="1200" noProof="0" dirty="0">
                <a:latin typeface="+mn-lt"/>
              </a:rPr>
              <a:t> de Descarga: Permite bajar el archivo directamente al equipo local.</a:t>
            </a:r>
            <a:endParaRPr lang="es-US" sz="1200" noProof="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C8D58E-0B12-4370-8272-47462F103B58}"/>
              </a:ext>
            </a:extLst>
          </p:cNvPr>
          <p:cNvCxnSpPr>
            <a:cxnSpLocks/>
            <a:endCxn id="4" idx="5"/>
          </p:cNvCxnSpPr>
          <p:nvPr/>
        </p:nvCxnSpPr>
        <p:spPr>
          <a:xfrm flipH="1" flipV="1">
            <a:off x="9584862" y="2524164"/>
            <a:ext cx="439152" cy="6771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EC3AB76-A205-4590-8FA6-DEF9EEDD52D9}"/>
              </a:ext>
            </a:extLst>
          </p:cNvPr>
          <p:cNvSpPr/>
          <p:nvPr/>
        </p:nvSpPr>
        <p:spPr>
          <a:xfrm>
            <a:off x="2014214" y="2313432"/>
            <a:ext cx="919110" cy="266872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B026DD9-3D28-F83F-457B-519477D21024}"/>
              </a:ext>
            </a:extLst>
          </p:cNvPr>
          <p:cNvSpPr/>
          <p:nvPr/>
        </p:nvSpPr>
        <p:spPr>
          <a:xfrm>
            <a:off x="0" y="0"/>
            <a:ext cx="12192000" cy="471162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1E84877-3ED4-547F-C732-DE5A67FAE766}"/>
              </a:ext>
            </a:extLst>
          </p:cNvPr>
          <p:cNvSpPr/>
          <p:nvPr/>
        </p:nvSpPr>
        <p:spPr>
          <a:xfrm>
            <a:off x="1457608" y="1942433"/>
            <a:ext cx="533167" cy="81887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6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4094786-33F6-ACD9-CF74-37DD6CA0B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46" y="4934139"/>
            <a:ext cx="1851262" cy="192386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1690934-4690-ACA0-6D75-F277A508B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807"/>
          </a:xfrm>
        </p:spPr>
        <p:txBody>
          <a:bodyPr>
            <a:normAutofit/>
          </a:bodyPr>
          <a:lstStyle/>
          <a:p>
            <a:r>
              <a:rPr lang="es-US" sz="3600" noProof="0" dirty="0">
                <a:latin typeface="+mn-lt"/>
              </a:rPr>
              <a:t>Gestión de certificados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9E7F111D-39D9-6B14-7A7C-180EEDE62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9380" y="1105932"/>
            <a:ext cx="8033239" cy="4351338"/>
          </a:xfrm>
          <a:prstGeom prst="rect">
            <a:avLst/>
          </a:prstGeom>
        </p:spPr>
      </p:pic>
      <p:pic>
        <p:nvPicPr>
          <p:cNvPr id="12" name="Marcador de contenido 4">
            <a:extLst>
              <a:ext uri="{FF2B5EF4-FFF2-40B4-BE49-F238E27FC236}">
                <a16:creationId xmlns:a16="http://schemas.microsoft.com/office/drawing/2014/main" id="{4B885307-D832-8A46-30D0-15A7D4D7A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74" y="3281601"/>
            <a:ext cx="4086225" cy="20288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FFFD65-DD4F-42F6-B842-BB99FC866C3A}"/>
              </a:ext>
            </a:extLst>
          </p:cNvPr>
          <p:cNvSpPr/>
          <p:nvPr/>
        </p:nvSpPr>
        <p:spPr>
          <a:xfrm>
            <a:off x="2515211" y="1846739"/>
            <a:ext cx="414331" cy="90985"/>
          </a:xfrm>
          <a:prstGeom prst="rect">
            <a:avLst/>
          </a:prstGeom>
          <a:solidFill>
            <a:srgbClr val="172949"/>
          </a:solidFill>
          <a:ln>
            <a:solidFill>
              <a:srgbClr val="172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BD7F90-6F18-4D7E-8796-EC75F95A7F4B}"/>
              </a:ext>
            </a:extLst>
          </p:cNvPr>
          <p:cNvSpPr/>
          <p:nvPr/>
        </p:nvSpPr>
        <p:spPr>
          <a:xfrm>
            <a:off x="2167191" y="1914978"/>
            <a:ext cx="762351" cy="90985"/>
          </a:xfrm>
          <a:prstGeom prst="rect">
            <a:avLst/>
          </a:prstGeom>
          <a:solidFill>
            <a:srgbClr val="172949"/>
          </a:solidFill>
          <a:ln>
            <a:solidFill>
              <a:srgbClr val="1729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S" sz="600" noProof="0" dirty="0"/>
              <a:t>Masmetrología</a:t>
            </a:r>
            <a:endParaRPr lang="es-US" sz="16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6677FF-76E6-4716-90B0-1295AC69022C}"/>
              </a:ext>
            </a:extLst>
          </p:cNvPr>
          <p:cNvSpPr txBox="1"/>
          <p:nvPr/>
        </p:nvSpPr>
        <p:spPr>
          <a:xfrm>
            <a:off x="1316492" y="5502762"/>
            <a:ext cx="9559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noProof="0" dirty="0"/>
              <a:t>Importante: Para realizar una descarga masiva, los certificados deben pertenecer a la misma fecha de emisión.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noProof="0" dirty="0"/>
              <a:t>Marque las casillas de los certificados deseados.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noProof="0" dirty="0"/>
              <a:t>Presione el botón 'Descargar’ (habilitado). El sistema generará un archivo comprimido (.zip).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06B8FD0-DCBD-AC0E-6B95-7F8F166ACFE3}"/>
              </a:ext>
            </a:extLst>
          </p:cNvPr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riángulo isósceles 8">
            <a:extLst>
              <a:ext uri="{FF2B5EF4-FFF2-40B4-BE49-F238E27FC236}">
                <a16:creationId xmlns:a16="http://schemas.microsoft.com/office/drawing/2014/main" id="{8E2738CC-3926-8EDA-5CE5-5C3926404D2C}"/>
              </a:ext>
            </a:extLst>
          </p:cNvPr>
          <p:cNvSpPr/>
          <p:nvPr/>
        </p:nvSpPr>
        <p:spPr>
          <a:xfrm rot="10800000">
            <a:off x="9692241" y="0"/>
            <a:ext cx="1387106" cy="1047980"/>
          </a:xfrm>
          <a:prstGeom prst="triangle">
            <a:avLst/>
          </a:prstGeom>
          <a:solidFill>
            <a:srgbClr val="0E378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74D32D51-F7B4-7100-E0A2-2AF4747AA438}"/>
              </a:ext>
            </a:extLst>
          </p:cNvPr>
          <p:cNvSpPr/>
          <p:nvPr/>
        </p:nvSpPr>
        <p:spPr>
          <a:xfrm rot="10800000">
            <a:off x="10176914" y="0"/>
            <a:ext cx="2015086" cy="1852564"/>
          </a:xfrm>
          <a:prstGeom prst="triangle">
            <a:avLst/>
          </a:prstGeom>
          <a:solidFill>
            <a:srgbClr val="7CCD56"/>
          </a:solidFill>
          <a:ln>
            <a:solidFill>
              <a:srgbClr val="7CCD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CA71A44-4E10-4D96-485F-43C4308F3498}"/>
              </a:ext>
            </a:extLst>
          </p:cNvPr>
          <p:cNvCxnSpPr>
            <a:cxnSpLocks/>
          </p:cNvCxnSpPr>
          <p:nvPr/>
        </p:nvCxnSpPr>
        <p:spPr>
          <a:xfrm>
            <a:off x="10919932" y="1003135"/>
            <a:ext cx="468669" cy="81882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5C39910-8C35-29B2-D195-7E2F243A2E1C}"/>
              </a:ext>
            </a:extLst>
          </p:cNvPr>
          <p:cNvCxnSpPr>
            <a:cxnSpLocks/>
          </p:cNvCxnSpPr>
          <p:nvPr/>
        </p:nvCxnSpPr>
        <p:spPr>
          <a:xfrm>
            <a:off x="10176914" y="491366"/>
            <a:ext cx="299060" cy="4303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26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B2B90C4-8E8A-5793-55A5-05D5848DE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62400" cy="23539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E73C1A6-4EE9-4049-EB7B-ECBA31328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867" y="411021"/>
            <a:ext cx="5363424" cy="680184"/>
          </a:xfrm>
        </p:spPr>
        <p:txBody>
          <a:bodyPr>
            <a:normAutofit/>
          </a:bodyPr>
          <a:lstStyle/>
          <a:p>
            <a:r>
              <a:rPr lang="es-US" sz="3600" noProof="0" dirty="0">
                <a:latin typeface="+mn-lt"/>
              </a:rPr>
              <a:t>Sección de acreditaciones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239375-83F1-3FDB-4DC8-B0EDEA583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9380" y="1045309"/>
            <a:ext cx="8033239" cy="435133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AA73F36-CD00-3070-AE4D-5E5AA417C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03" y="1680802"/>
            <a:ext cx="2162175" cy="2076450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6AF4A046-B43F-9289-1E60-1511CACF5DDD}"/>
              </a:ext>
            </a:extLst>
          </p:cNvPr>
          <p:cNvSpPr/>
          <p:nvPr/>
        </p:nvSpPr>
        <p:spPr>
          <a:xfrm>
            <a:off x="329697" y="2989393"/>
            <a:ext cx="1651503" cy="552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80DE2-4F33-4689-B07A-5FF2FDDAD90D}"/>
              </a:ext>
            </a:extLst>
          </p:cNvPr>
          <p:cNvSpPr txBox="1"/>
          <p:nvPr/>
        </p:nvSpPr>
        <p:spPr>
          <a:xfrm>
            <a:off x="969264" y="5803491"/>
            <a:ext cx="10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800" noProof="0" dirty="0">
                <a:latin typeface="+mn-lt"/>
              </a:rPr>
              <a:t>En el menú de navegación viene una sección “Acreditaciones” para redirigir al usuario a la pagina principal de </a:t>
            </a:r>
            <a:r>
              <a:rPr lang="es-US" sz="1800" noProof="0" dirty="0" err="1">
                <a:latin typeface="+mn-lt"/>
              </a:rPr>
              <a:t>Masmetrología</a:t>
            </a:r>
            <a:r>
              <a:rPr lang="es-US" sz="1800" noProof="0" dirty="0">
                <a:latin typeface="+mn-lt"/>
              </a:rPr>
              <a:t>. </a:t>
            </a:r>
            <a:endParaRPr lang="es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69BFD88-7A24-E226-87EB-0EE7A74478DF}"/>
              </a:ext>
            </a:extLst>
          </p:cNvPr>
          <p:cNvSpPr/>
          <p:nvPr/>
        </p:nvSpPr>
        <p:spPr>
          <a:xfrm>
            <a:off x="0" y="0"/>
            <a:ext cx="12192000" cy="408178"/>
          </a:xfrm>
          <a:prstGeom prst="rect">
            <a:avLst/>
          </a:prstGeom>
          <a:solidFill>
            <a:srgbClr val="0E3780"/>
          </a:solidFill>
          <a:ln>
            <a:solidFill>
              <a:srgbClr val="0E37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80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649</Words>
  <Application>Microsoft Office PowerPoint</Application>
  <PresentationFormat>Panorámica</PresentationFormat>
  <Paragraphs>49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Sistema de Gestión de Certificaciones</vt:lpstr>
      <vt:lpstr>Introducción </vt:lpstr>
      <vt:lpstr>Ingreso al portal</vt:lpstr>
      <vt:lpstr>Inicio de sesión </vt:lpstr>
      <vt:lpstr>Inicio de sesión </vt:lpstr>
      <vt:lpstr>Registro de usuario</vt:lpstr>
      <vt:lpstr>Recuperación de Contraseña</vt:lpstr>
      <vt:lpstr>Recuperación de Contraseña</vt:lpstr>
      <vt:lpstr>Pagina de inicio</vt:lpstr>
      <vt:lpstr>Gestión de certificados</vt:lpstr>
      <vt:lpstr>Gestión de certificados</vt:lpstr>
      <vt:lpstr>Sección de acreditaciones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Portal Para Gestion de Certificados</dc:title>
  <dc:creator>Becario Mas metrologia</dc:creator>
  <cp:lastModifiedBy>Becario Mas metrologia</cp:lastModifiedBy>
  <cp:revision>28</cp:revision>
  <dcterms:created xsi:type="dcterms:W3CDTF">2026-04-15T20:03:45Z</dcterms:created>
  <dcterms:modified xsi:type="dcterms:W3CDTF">2026-05-09T19:37:04Z</dcterms:modified>
</cp:coreProperties>
</file>